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59B9-F6EF-0E8D-74E5-6434F9CD2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8B7B1-1351-A8DF-4E1E-B234C9B96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720D8-BE29-09DE-D44F-B9EBFFCDF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08240-DCB1-7CFE-1122-F3C28917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E9E04-7E0D-CF78-1EF2-440857D5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27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8C8A-F762-30EB-A183-975E9332E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A2D3F-87D5-F97A-17C1-30FC7D75D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3FC25-28AF-6F9E-3A78-6B85EF2AB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68960-B7B5-D174-C277-34E115C85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14A25-BB7D-6855-2DB0-FE9257ED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214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8AC4-7804-BE09-ADBC-8FD0DFFCE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E02BC-B610-6B46-FB9A-D162FECDC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5EBB7-2305-D319-34DB-046FB447B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F0B40-3290-305C-2F57-E7A9F0CE4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0F1AA-F6C2-1496-A597-700FAB21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9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403D-8623-7EED-E821-24FC4A451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E1289-907C-5D45-BF8C-443CA07D8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0D949-9714-50B5-E862-E4B9BAB6F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3328A-F4CB-33CA-353B-0B03758A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755D9-C297-C8A7-7F13-67E6DDB5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60F11-8DEF-0AAA-877B-E22F94F4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466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6240-602D-44AC-3073-D90F01FBB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8BA3E-914A-10D7-BB7D-37C8230CB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C05F8-863D-26C1-3F38-30D6A4EF0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C43E9F-75E4-19A0-2042-8F975220FA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A5E6F4-7E18-EDA9-4042-DA6E20842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647EAD-A777-4E1A-7F2E-0674DD4CF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FDF432-6435-369D-3730-EA487EEE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8E6A2A-54EF-A007-27EC-5F48C3AE9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93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7D2F-5E9D-C4A8-FE09-6EC195FA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B9CF1-12BD-CC70-8B20-619827E2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CB359-1453-BA93-655B-6C696FC8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13467-9331-9376-4A02-60A6ECEB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82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EF042-8D6A-BA09-0F12-07A057114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606F28-27A1-30E5-6EC8-3F1EDB38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83177-AD53-51CE-77C7-A89D5C05A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84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2197-9B93-DC1E-F23D-29FB86CA2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A16D5-5BA2-852B-2344-D923395ED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F2752-A67F-8605-429B-AA151634D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707BE-D2C8-A682-CE7F-66349A38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99803-550C-3892-8D59-4EA21581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B981B-CBED-FCE4-2DA5-BDDF591A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97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61B9-A293-4AA3-7EB5-392F15111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2DC43E-1D2C-BF20-7346-DE1A6BCB4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0B268-E853-5BE0-2B2D-DDFEF0CAE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E4613-6964-3290-EC3F-77E1F80F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F5063-7BA7-3991-7F60-FA39EF26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5EE1-5572-5219-B3E2-14F96874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26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6BA0-A9B7-C437-2F7B-58D157D8B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61F97-4451-FD9D-AA76-E20AEFE04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4857B-6525-3ADB-A6C0-F8791459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C5B6A-67B0-650D-3BA9-E5AF0DED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B0F40-6CBB-202D-0175-280D2A17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489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5BB35-E57F-1BA0-2B5B-4CFDAB434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14AA9-22CE-2A32-3202-64AB61BCF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15575-C59E-009F-0366-6DC5D630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3C1A5-A5A6-4EF6-19F7-F03CCB5F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A122C-94ED-DB4E-BBD9-ED155448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788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030BB1-165D-D6D7-A7F2-4CB21C84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6760A-7DC3-11A2-F2F3-1130858BB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0F7D7-078D-C37C-E3FC-2E50FC266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8561E-619F-4BB8-BADB-9B81C53CBDCD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DA527-1B87-3440-D5EE-874E8ED8F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81922-0686-B135-0F10-1F001B971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B28F7-0E17-497F-B313-B622E3F11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8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B3B2-9BA1-0411-04D5-51D8D728F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154" y="1069923"/>
            <a:ext cx="9861755" cy="2387600"/>
          </a:xfrm>
        </p:spPr>
        <p:txBody>
          <a:bodyPr/>
          <a:lstStyle/>
          <a:p>
            <a:r>
              <a:rPr lang="en-IN" dirty="0"/>
              <a:t>DATA ANALYST Assignment 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80759-5A6B-8125-489A-218228818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9032" y="3292833"/>
            <a:ext cx="9144000" cy="1655762"/>
          </a:xfrm>
        </p:spPr>
        <p:txBody>
          <a:bodyPr/>
          <a:lstStyle/>
          <a:p>
            <a:r>
              <a:rPr lang="en-US" dirty="0"/>
              <a:t>Database Thinking for Real-World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207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6172-02D6-635F-4A63-CAE0331D1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5280"/>
            <a:ext cx="10515600" cy="681806"/>
          </a:xfrm>
        </p:spPr>
        <p:txBody>
          <a:bodyPr>
            <a:normAutofit fontScale="90000"/>
          </a:bodyPr>
          <a:lstStyle/>
          <a:p>
            <a:r>
              <a:rPr lang="en-US" dirty="0"/>
              <a:t>SECTION 1: DBMS Architecture 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E55F7-65C2-A4FE-D6AE-67D2E64EB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688180"/>
            <a:ext cx="5859923" cy="60945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 dirty="0"/>
              <a:t>Conceptual Level</a:t>
            </a:r>
          </a:p>
          <a:p>
            <a:r>
              <a:rPr lang="en-US" sz="2500" b="1" dirty="0"/>
              <a:t>Purpose</a:t>
            </a:r>
          </a:p>
          <a:p>
            <a:r>
              <a:rPr lang="en-US" sz="2500" dirty="0"/>
              <a:t>Shows how data is organized.</a:t>
            </a:r>
          </a:p>
          <a:p>
            <a:r>
              <a:rPr lang="en-US" sz="2500" dirty="0"/>
              <a:t>Connects different data.</a:t>
            </a:r>
          </a:p>
          <a:p>
            <a:r>
              <a:rPr lang="en-US" sz="2500" b="1" dirty="0"/>
              <a:t>Real-Life Example</a:t>
            </a:r>
          </a:p>
          <a:p>
            <a:r>
              <a:rPr lang="en-US" sz="2500" dirty="0"/>
              <a:t>In a </a:t>
            </a:r>
            <a:r>
              <a:rPr lang="en-US" sz="2500" b="1" dirty="0" err="1"/>
              <a:t>school</a:t>
            </a:r>
            <a:r>
              <a:rPr lang="en-US" sz="2500" dirty="0" err="1"/>
              <a:t>:Student</a:t>
            </a:r>
            <a:r>
              <a:rPr lang="en-US" sz="2500" dirty="0"/>
              <a:t> and teacher data are connected.</a:t>
            </a:r>
          </a:p>
          <a:p>
            <a:r>
              <a:rPr lang="en-US" sz="2500" dirty="0"/>
              <a:t>Course details are stored.</a:t>
            </a:r>
          </a:p>
          <a:p>
            <a:r>
              <a:rPr lang="en-US" sz="2500" b="1" dirty="0"/>
              <a:t>If this level is removed</a:t>
            </a:r>
          </a:p>
          <a:p>
            <a:r>
              <a:rPr lang="en-US" sz="2500" dirty="0"/>
              <a:t>Data will not be clear.</a:t>
            </a:r>
          </a:p>
          <a:p>
            <a:r>
              <a:rPr lang="en-US" sz="2500" dirty="0"/>
              <a:t>Database will be confusing.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sz="2900" b="1" dirty="0"/>
              <a:t>Internal Level</a:t>
            </a:r>
          </a:p>
          <a:p>
            <a:r>
              <a:rPr lang="en-US" sz="2200" b="1" dirty="0"/>
              <a:t>Purpose</a:t>
            </a:r>
          </a:p>
          <a:p>
            <a:r>
              <a:rPr lang="en-US" sz="2200" dirty="0"/>
              <a:t>Shows how data is saved in the computer.</a:t>
            </a:r>
          </a:p>
          <a:p>
            <a:r>
              <a:rPr lang="en-US" sz="2200" dirty="0"/>
              <a:t>Helps data work fast.</a:t>
            </a:r>
          </a:p>
          <a:p>
            <a:r>
              <a:rPr lang="en-US" sz="2200" b="1" dirty="0"/>
              <a:t>Real-Life Example</a:t>
            </a:r>
          </a:p>
          <a:p>
            <a:r>
              <a:rPr lang="en-US" sz="2200" dirty="0"/>
              <a:t>In a </a:t>
            </a:r>
            <a:r>
              <a:rPr lang="en-US" sz="2200" b="1" dirty="0" err="1"/>
              <a:t>library</a:t>
            </a:r>
            <a:r>
              <a:rPr lang="en-US" sz="2200" dirty="0" err="1"/>
              <a:t>:Books</a:t>
            </a:r>
            <a:r>
              <a:rPr lang="en-US" sz="2200" dirty="0"/>
              <a:t> data is saved in files.</a:t>
            </a:r>
          </a:p>
          <a:p>
            <a:r>
              <a:rPr lang="en-US" sz="2200" dirty="0"/>
              <a:t>Users do not see this part.</a:t>
            </a:r>
          </a:p>
          <a:p>
            <a:r>
              <a:rPr lang="en-US" sz="2200" b="1" dirty="0"/>
              <a:t>If this level is removed</a:t>
            </a:r>
          </a:p>
          <a:p>
            <a:r>
              <a:rPr lang="en-US" sz="2200" dirty="0"/>
              <a:t>Data cannot be saved.</a:t>
            </a:r>
          </a:p>
          <a:p>
            <a:r>
              <a:rPr lang="en-US" sz="2200" dirty="0"/>
              <a:t>Database will not work.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D8125-CC50-CAE6-4C68-662B7EF55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652" y="75280"/>
            <a:ext cx="3834580" cy="45719"/>
          </a:xfrm>
        </p:spPr>
        <p:txBody>
          <a:bodyPr>
            <a:normAutofit fontScale="25000" lnSpcReduction="20000"/>
          </a:bodyPr>
          <a:lstStyle/>
          <a:p>
            <a:endParaRPr lang="en-IN" sz="6400" dirty="0"/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A4084-5CDA-6CC4-0CFD-157820135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652" y="688180"/>
            <a:ext cx="5859923" cy="60945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800" b="1" dirty="0"/>
              <a:t>3-Level DBMS Architecture</a:t>
            </a:r>
            <a:endParaRPr lang="en-IN" sz="2600" b="1" dirty="0"/>
          </a:p>
          <a:p>
            <a:pPr marL="0" indent="0">
              <a:buNone/>
            </a:pPr>
            <a:r>
              <a:rPr lang="en-IN" sz="2600" dirty="0"/>
              <a:t>	1.External level</a:t>
            </a:r>
          </a:p>
          <a:p>
            <a:pPr marL="0" indent="0">
              <a:buNone/>
            </a:pPr>
            <a:r>
              <a:rPr lang="en-IN" sz="2600" dirty="0"/>
              <a:t>	2.Conceptual level</a:t>
            </a:r>
          </a:p>
          <a:p>
            <a:pPr marL="0" indent="0">
              <a:buNone/>
            </a:pPr>
            <a:r>
              <a:rPr lang="en-IN" sz="2600" dirty="0"/>
              <a:t>	3.Internal level                              </a:t>
            </a:r>
          </a:p>
          <a:p>
            <a:pPr marL="0" indent="0">
              <a:buNone/>
            </a:pPr>
            <a:r>
              <a:rPr lang="en-US" sz="2900" b="1" dirty="0"/>
              <a:t>External Level</a:t>
            </a:r>
          </a:p>
          <a:p>
            <a:r>
              <a:rPr lang="en-US" sz="2600" b="1" dirty="0"/>
              <a:t>Purpose</a:t>
            </a:r>
          </a:p>
          <a:p>
            <a:r>
              <a:rPr lang="en-US" sz="2600" dirty="0"/>
              <a:t>Shows only the data a user needs.</a:t>
            </a:r>
          </a:p>
          <a:p>
            <a:r>
              <a:rPr lang="en-US" sz="2600" dirty="0"/>
              <a:t>Hides other data.</a:t>
            </a:r>
          </a:p>
          <a:p>
            <a:r>
              <a:rPr lang="en-US" sz="2600" b="1" dirty="0"/>
              <a:t>Real-Life Example</a:t>
            </a:r>
          </a:p>
          <a:p>
            <a:r>
              <a:rPr lang="en-US" sz="2600" dirty="0"/>
              <a:t>In a </a:t>
            </a:r>
            <a:r>
              <a:rPr lang="en-US" sz="2600" b="1" dirty="0" err="1"/>
              <a:t>bank</a:t>
            </a:r>
            <a:r>
              <a:rPr lang="en-US" sz="2600" dirty="0" err="1"/>
              <a:t>:A</a:t>
            </a:r>
            <a:r>
              <a:rPr lang="en-US" sz="2600" dirty="0"/>
              <a:t> customer sees only their account.</a:t>
            </a:r>
          </a:p>
          <a:p>
            <a:r>
              <a:rPr lang="en-US" sz="2600" dirty="0"/>
              <a:t>A worker sees more details.</a:t>
            </a:r>
          </a:p>
          <a:p>
            <a:r>
              <a:rPr lang="en-US" sz="2600" dirty="0"/>
              <a:t>A manager sees all reports.</a:t>
            </a:r>
          </a:p>
          <a:p>
            <a:r>
              <a:rPr lang="en-US" sz="2600" b="1" dirty="0"/>
              <a:t>If this level is removed</a:t>
            </a:r>
          </a:p>
          <a:p>
            <a:r>
              <a:rPr lang="en-US" sz="2600" dirty="0"/>
              <a:t>Everyone will see all data.</a:t>
            </a:r>
          </a:p>
          <a:p>
            <a:r>
              <a:rPr lang="en-US" sz="2600" dirty="0"/>
              <a:t>Data will not be safe.</a:t>
            </a:r>
          </a:p>
          <a:p>
            <a:endParaRPr lang="en-IN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D3A82-40E2-A0E1-6268-D8C5B0402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2806" y="320011"/>
            <a:ext cx="5183188" cy="96172"/>
          </a:xfrm>
        </p:spPr>
        <p:txBody>
          <a:bodyPr>
            <a:normAutofit fontScale="25000" lnSpcReduction="2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99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B751-E3DC-9802-7018-3FA510304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" y="89822"/>
            <a:ext cx="10515600" cy="591215"/>
          </a:xfrm>
        </p:spPr>
        <p:txBody>
          <a:bodyPr>
            <a:normAutofit fontScale="90000"/>
          </a:bodyPr>
          <a:lstStyle/>
          <a:p>
            <a:r>
              <a:rPr lang="en-IN" dirty="0"/>
              <a:t>Banking System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72B5E-A0F0-C626-50A5-21E960C28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477" y="681037"/>
            <a:ext cx="6046839" cy="54959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/>
              <a:t>Customer</a:t>
            </a:r>
          </a:p>
          <a:p>
            <a:r>
              <a:rPr lang="en-US" sz="1900" b="1" dirty="0"/>
              <a:t>What the customer sees</a:t>
            </a:r>
          </a:p>
          <a:p>
            <a:r>
              <a:rPr lang="en-US" sz="1900" dirty="0"/>
              <a:t>Their account number</a:t>
            </a:r>
          </a:p>
          <a:p>
            <a:r>
              <a:rPr lang="en-US" sz="1900" dirty="0"/>
              <a:t>Their balance</a:t>
            </a:r>
          </a:p>
          <a:p>
            <a:r>
              <a:rPr lang="en-US" sz="1900" dirty="0"/>
              <a:t>Their transactions</a:t>
            </a:r>
          </a:p>
          <a:p>
            <a:r>
              <a:rPr lang="en-US" sz="1900" b="1" dirty="0"/>
              <a:t>Why</a:t>
            </a:r>
          </a:p>
          <a:p>
            <a:r>
              <a:rPr lang="en-US" sz="1900" dirty="0"/>
              <a:t>Customers only need their own details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2100" b="1" dirty="0"/>
              <a:t>Bank Teller</a:t>
            </a:r>
          </a:p>
          <a:p>
            <a:r>
              <a:rPr lang="en-US" sz="1900" b="1" dirty="0"/>
              <a:t>What the teller sees</a:t>
            </a:r>
          </a:p>
          <a:p>
            <a:r>
              <a:rPr lang="en-US" sz="1900" dirty="0"/>
              <a:t>Customer name</a:t>
            </a:r>
          </a:p>
          <a:p>
            <a:r>
              <a:rPr lang="en-US" sz="1900" dirty="0"/>
              <a:t>Account number</a:t>
            </a:r>
          </a:p>
          <a:p>
            <a:r>
              <a:rPr lang="en-US" sz="1900" dirty="0"/>
              <a:t>Balance</a:t>
            </a:r>
          </a:p>
          <a:p>
            <a:r>
              <a:rPr lang="en-US" sz="1900" dirty="0"/>
              <a:t>Deposit and withdrawal details</a:t>
            </a:r>
          </a:p>
          <a:p>
            <a:r>
              <a:rPr lang="en-US" sz="1900" b="1" dirty="0"/>
              <a:t>Why</a:t>
            </a:r>
          </a:p>
          <a:p>
            <a:r>
              <a:rPr lang="en-US" sz="1900" dirty="0"/>
              <a:t>Tellers help customers every day.</a:t>
            </a:r>
          </a:p>
          <a:p>
            <a:r>
              <a:rPr lang="en-US" sz="1900" dirty="0"/>
              <a:t>They need more data than customers.</a:t>
            </a:r>
          </a:p>
          <a:p>
            <a:pPr marL="0" indent="0">
              <a:buNone/>
            </a:pPr>
            <a:endParaRPr lang="en-IN" sz="1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473E5-249C-12C3-E682-D7D9056A9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13438" y="722977"/>
            <a:ext cx="6678562" cy="58869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/>
              <a:t>Branch Manager</a:t>
            </a:r>
          </a:p>
          <a:p>
            <a:r>
              <a:rPr lang="en-US" sz="1900" b="1" dirty="0"/>
              <a:t>What the manager sees</a:t>
            </a:r>
          </a:p>
          <a:p>
            <a:r>
              <a:rPr lang="en-US" sz="1900" dirty="0"/>
              <a:t>All customer accounts</a:t>
            </a:r>
          </a:p>
          <a:p>
            <a:r>
              <a:rPr lang="en-US" sz="1900" dirty="0"/>
              <a:t>Total money in the branch</a:t>
            </a:r>
          </a:p>
          <a:p>
            <a:r>
              <a:rPr lang="en-US" sz="1900" dirty="0"/>
              <a:t>Reports and summaries</a:t>
            </a:r>
          </a:p>
          <a:p>
            <a:r>
              <a:rPr lang="en-US" sz="1900" b="1" dirty="0"/>
              <a:t>Why</a:t>
            </a:r>
          </a:p>
          <a:p>
            <a:r>
              <a:rPr lang="en-US" sz="1900" dirty="0"/>
              <a:t>Managers control the whole branch.</a:t>
            </a:r>
          </a:p>
          <a:p>
            <a:r>
              <a:rPr lang="en-US" sz="1900" dirty="0"/>
              <a:t>They need full information</a:t>
            </a:r>
            <a:r>
              <a:rPr lang="en-US" sz="3000" dirty="0"/>
              <a:t>.</a:t>
            </a:r>
          </a:p>
          <a:p>
            <a:pPr marL="0" indent="0">
              <a:buNone/>
            </a:pPr>
            <a:r>
              <a:rPr lang="en-US" sz="2200" b="1" dirty="0"/>
              <a:t>Why Separation Is Important</a:t>
            </a:r>
          </a:p>
          <a:p>
            <a:r>
              <a:rPr lang="en-US" sz="1900" dirty="0"/>
              <a:t>Keeps data safe</a:t>
            </a:r>
          </a:p>
          <a:p>
            <a:r>
              <a:rPr lang="en-US" sz="1900" dirty="0"/>
              <a:t>Protects privacy</a:t>
            </a:r>
          </a:p>
          <a:p>
            <a:r>
              <a:rPr lang="en-US" sz="1900" dirty="0"/>
              <a:t>Avoids mistakes</a:t>
            </a:r>
          </a:p>
          <a:p>
            <a:r>
              <a:rPr lang="en-US" sz="1900" dirty="0"/>
              <a:t>Makes work easy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6737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0581-EF12-3728-B343-AF6C9F5B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319"/>
            <a:ext cx="10724536" cy="716424"/>
          </a:xfrm>
        </p:spPr>
        <p:txBody>
          <a:bodyPr/>
          <a:lstStyle/>
          <a:p>
            <a:r>
              <a:rPr lang="en-IN" dirty="0"/>
              <a:t>SECTION 2: CAP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A3483-E219-2485-38C8-CD1531E76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982" y="835741"/>
            <a:ext cx="5958345" cy="59029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/>
              <a:t>Consistency</a:t>
            </a:r>
          </a:p>
          <a:p>
            <a:pPr marL="0" indent="0">
              <a:buNone/>
            </a:pPr>
            <a:r>
              <a:rPr lang="en-IN" sz="1800" dirty="0"/>
              <a:t>All users see the same data at same time . Data always correct and updated.</a:t>
            </a:r>
          </a:p>
          <a:p>
            <a:pPr marL="0" indent="0">
              <a:buNone/>
            </a:pPr>
            <a:r>
              <a:rPr lang="en-US" sz="1600" b="1" dirty="0"/>
              <a:t>Real-World Example</a:t>
            </a:r>
          </a:p>
          <a:p>
            <a:r>
              <a:rPr lang="en-US" sz="1600" dirty="0"/>
              <a:t>ATM </a:t>
            </a:r>
            <a:r>
              <a:rPr lang="en-US" sz="1600" dirty="0" err="1"/>
              <a:t>balance:You</a:t>
            </a:r>
            <a:r>
              <a:rPr lang="en-US" sz="1600" dirty="0"/>
              <a:t> withdraw money from one ATM.</a:t>
            </a:r>
          </a:p>
          <a:p>
            <a:r>
              <a:rPr lang="en-US" sz="1600" dirty="0"/>
              <a:t>Immediately, all other ATMs show the </a:t>
            </a:r>
            <a:r>
              <a:rPr lang="en-US" sz="1600" b="1" dirty="0"/>
              <a:t>updated balance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IN" sz="1800" b="1" dirty="0"/>
              <a:t>Availability</a:t>
            </a:r>
          </a:p>
          <a:p>
            <a:pPr marL="0" indent="0">
              <a:buNone/>
            </a:pPr>
            <a:r>
              <a:rPr lang="en-IN" sz="1600" dirty="0"/>
              <a:t>The system is always working . Every request gets response, even if data is not updated.</a:t>
            </a:r>
          </a:p>
          <a:p>
            <a:pPr marL="0" indent="0">
              <a:buNone/>
            </a:pPr>
            <a:r>
              <a:rPr lang="en-US" sz="1600" b="1" dirty="0"/>
              <a:t>Real-World Example</a:t>
            </a:r>
          </a:p>
          <a:p>
            <a:r>
              <a:rPr lang="en-US" sz="1600" dirty="0"/>
              <a:t>Online shopping </a:t>
            </a:r>
            <a:r>
              <a:rPr lang="en-US" sz="1600" dirty="0" err="1"/>
              <a:t>website:The</a:t>
            </a:r>
            <a:r>
              <a:rPr lang="en-US" sz="1600" dirty="0"/>
              <a:t> website opens and works even during heavy traffic.</a:t>
            </a:r>
          </a:p>
          <a:p>
            <a:r>
              <a:rPr lang="en-US" sz="1600" dirty="0"/>
              <a:t>You can still browse products.</a:t>
            </a:r>
          </a:p>
          <a:p>
            <a:pPr marL="0" indent="0">
              <a:buNone/>
            </a:pPr>
            <a:r>
              <a:rPr lang="en-IN" sz="1800" b="1" dirty="0"/>
              <a:t>Partition Tolerance</a:t>
            </a:r>
          </a:p>
          <a:p>
            <a:pPr marL="0" indent="0">
              <a:buNone/>
            </a:pPr>
            <a:r>
              <a:rPr lang="en-US" sz="1600" dirty="0"/>
              <a:t>The system keeps working even if network fails.</a:t>
            </a:r>
          </a:p>
          <a:p>
            <a:pPr marL="0" indent="0">
              <a:buNone/>
            </a:pPr>
            <a:r>
              <a:rPr lang="en-US" sz="1600" b="1" dirty="0"/>
              <a:t>Real-World Example</a:t>
            </a:r>
          </a:p>
          <a:p>
            <a:r>
              <a:rPr lang="en-US" sz="1600" dirty="0"/>
              <a:t>Mobile payment </a:t>
            </a:r>
            <a:r>
              <a:rPr lang="en-US" sz="1600" dirty="0" err="1"/>
              <a:t>app:Internet</a:t>
            </a:r>
            <a:r>
              <a:rPr lang="en-US" sz="1600" dirty="0"/>
              <a:t> connection is weak.</a:t>
            </a:r>
          </a:p>
          <a:p>
            <a:r>
              <a:rPr lang="en-US" sz="1600" dirty="0"/>
              <a:t>Payment still processes or completes later when network is back.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0FD2FB1-A82C-3B9E-F79F-DD1DA26F530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8636847"/>
              </p:ext>
            </p:extLst>
          </p:nvPr>
        </p:nvGraphicFramePr>
        <p:xfrm>
          <a:off x="5967412" y="943897"/>
          <a:ext cx="6047606" cy="41950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28978">
                  <a:extLst>
                    <a:ext uri="{9D8B030D-6E8A-4147-A177-3AD203B41FA5}">
                      <a16:colId xmlns:a16="http://schemas.microsoft.com/office/drawing/2014/main" val="1381855794"/>
                    </a:ext>
                  </a:extLst>
                </a:gridCol>
                <a:gridCol w="2009314">
                  <a:extLst>
                    <a:ext uri="{9D8B030D-6E8A-4147-A177-3AD203B41FA5}">
                      <a16:colId xmlns:a16="http://schemas.microsoft.com/office/drawing/2014/main" val="3124631751"/>
                    </a:ext>
                  </a:extLst>
                </a:gridCol>
                <a:gridCol w="2009314">
                  <a:extLst>
                    <a:ext uri="{9D8B030D-6E8A-4147-A177-3AD203B41FA5}">
                      <a16:colId xmlns:a16="http://schemas.microsoft.com/office/drawing/2014/main" val="3097790086"/>
                    </a:ext>
                  </a:extLst>
                </a:gridCol>
              </a:tblGrid>
              <a:tr h="563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System</a:t>
                      </a:r>
                    </a:p>
                  </a:txBody>
                  <a:tcPr marL="49944" marR="49944" marT="24972" marB="24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Type (CP / AP)</a:t>
                      </a:r>
                    </a:p>
                  </a:txBody>
                  <a:tcPr marL="49944" marR="49944" marT="24972" marB="24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Reason</a:t>
                      </a:r>
                    </a:p>
                  </a:txBody>
                  <a:tcPr marL="49944" marR="49944" marT="24972" marB="24972" anchor="ctr"/>
                </a:tc>
                <a:extLst>
                  <a:ext uri="{0D108BD9-81ED-4DB2-BD59-A6C34878D82A}">
                    <a16:rowId xmlns:a16="http://schemas.microsoft.com/office/drawing/2014/main" val="2034217383"/>
                  </a:ext>
                </a:extLst>
              </a:tr>
              <a:tr h="969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Bank transaction system</a:t>
                      </a:r>
                    </a:p>
                  </a:txBody>
                  <a:tcPr marL="49944" marR="49944" marT="24972" marB="24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CP</a:t>
                      </a:r>
                    </a:p>
                  </a:txBody>
                  <a:tcPr marL="49944" marR="49944" marT="24972" marB="24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Money must be correct. System can stop if there is a problem.</a:t>
                      </a:r>
                    </a:p>
                  </a:txBody>
                  <a:tcPr marL="49944" marR="49944" marT="24972" marB="24972" anchor="ctr"/>
                </a:tc>
                <a:extLst>
                  <a:ext uri="{0D108BD9-81ED-4DB2-BD59-A6C34878D82A}">
                    <a16:rowId xmlns:a16="http://schemas.microsoft.com/office/drawing/2014/main" val="4261919420"/>
                  </a:ext>
                </a:extLst>
              </a:tr>
              <a:tr h="871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Instagram likes counter</a:t>
                      </a:r>
                    </a:p>
                  </a:txBody>
                  <a:tcPr marL="49944" marR="49944" marT="24972" marB="24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AP</a:t>
                      </a:r>
                    </a:p>
                  </a:txBody>
                  <a:tcPr marL="49944" marR="49944" marT="24972" marB="24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App must always work. Likes can be a little delayed.</a:t>
                      </a:r>
                    </a:p>
                  </a:txBody>
                  <a:tcPr marL="49944" marR="49944" marT="24972" marB="24972" anchor="ctr"/>
                </a:tc>
                <a:extLst>
                  <a:ext uri="{0D108BD9-81ED-4DB2-BD59-A6C34878D82A}">
                    <a16:rowId xmlns:a16="http://schemas.microsoft.com/office/drawing/2014/main" val="677686989"/>
                  </a:ext>
                </a:extLst>
              </a:tr>
              <a:tr h="891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Netflix movie streaming</a:t>
                      </a:r>
                    </a:p>
                  </a:txBody>
                  <a:tcPr marL="49944" marR="49944" marT="24972" marB="24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AP</a:t>
                      </a:r>
                    </a:p>
                  </a:txBody>
                  <a:tcPr marL="49944" marR="49944" marT="24972" marB="24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Movie must keep playing. Small errors are okay.</a:t>
                      </a:r>
                    </a:p>
                  </a:txBody>
                  <a:tcPr marL="49944" marR="49944" marT="24972" marB="24972" anchor="ctr"/>
                </a:tc>
                <a:extLst>
                  <a:ext uri="{0D108BD9-81ED-4DB2-BD59-A6C34878D82A}">
                    <a16:rowId xmlns:a16="http://schemas.microsoft.com/office/drawing/2014/main" val="1447691940"/>
                  </a:ext>
                </a:extLst>
              </a:tr>
              <a:tr h="843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Airline ticket booking</a:t>
                      </a:r>
                    </a:p>
                  </a:txBody>
                  <a:tcPr marL="49944" marR="49944" marT="24972" marB="24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CP</a:t>
                      </a:r>
                    </a:p>
                  </a:txBody>
                  <a:tcPr marL="49944" marR="49944" marT="24972" marB="249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Seat numbers must be correct. No double booking.</a:t>
                      </a:r>
                    </a:p>
                  </a:txBody>
                  <a:tcPr marL="49944" marR="49944" marT="24972" marB="24972" anchor="ctr"/>
                </a:tc>
                <a:extLst>
                  <a:ext uri="{0D108BD9-81ED-4DB2-BD59-A6C34878D82A}">
                    <a16:rowId xmlns:a16="http://schemas.microsoft.com/office/drawing/2014/main" val="270804526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5A906A5-7837-ACFD-F5B0-1EFCD1A1C7DF}"/>
              </a:ext>
            </a:extLst>
          </p:cNvPr>
          <p:cNvSpPr/>
          <p:nvPr/>
        </p:nvSpPr>
        <p:spPr>
          <a:xfrm>
            <a:off x="5967412" y="5348748"/>
            <a:ext cx="5742808" cy="123886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CP (Consistency + Partition Tolerance)</a:t>
            </a:r>
          </a:p>
          <a:p>
            <a:pPr algn="ctr"/>
            <a:r>
              <a:rPr lang="en-IN" dirty="0"/>
              <a:t>CA (Consistency + Availability)</a:t>
            </a:r>
          </a:p>
          <a:p>
            <a:pPr algn="ctr"/>
            <a:r>
              <a:rPr lang="en-IN" dirty="0"/>
              <a:t>AP (Availability + Partition Tolerance)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94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7303-0D49-E9FD-616C-9AB9994A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09" y="0"/>
            <a:ext cx="10515600" cy="24447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16C08-5327-3AC3-E90C-40998806C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89" y="650234"/>
            <a:ext cx="8944897" cy="5557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Scenario: Uber loses connection between two data centers</a:t>
            </a:r>
          </a:p>
          <a:p>
            <a:pPr marL="0" indent="0">
              <a:buNone/>
            </a:pPr>
            <a:r>
              <a:rPr lang="en-US" sz="1800" b="1" dirty="0"/>
              <a:t>What risks occur?</a:t>
            </a:r>
          </a:p>
          <a:p>
            <a:r>
              <a:rPr lang="en-US" sz="1800" dirty="0"/>
              <a:t>Some drivers or riders may see wrong location or availability.</a:t>
            </a:r>
          </a:p>
          <a:p>
            <a:r>
              <a:rPr lang="en-US" sz="1800" dirty="0"/>
              <a:t>Trips could be double-booked or missed.</a:t>
            </a:r>
          </a:p>
          <a:p>
            <a:r>
              <a:rPr lang="en-US" sz="1800" dirty="0"/>
              <a:t>Payments or ride details may not update immediately.</a:t>
            </a:r>
          </a:p>
          <a:p>
            <a:pPr marL="0" indent="0">
              <a:buNone/>
            </a:pPr>
            <a:r>
              <a:rPr lang="en-US" sz="1800" b="1" dirty="0"/>
              <a:t>Which CAP property should Uber prioritize?</a:t>
            </a:r>
          </a:p>
          <a:p>
            <a:r>
              <a:rPr lang="en-US" sz="1800" dirty="0"/>
              <a:t>Availability + Partition Tolerance (AP)</a:t>
            </a:r>
          </a:p>
          <a:p>
            <a:pPr marL="0" indent="0">
              <a:buNone/>
            </a:pPr>
            <a:r>
              <a:rPr lang="en-US" sz="1800" b="1" dirty="0"/>
              <a:t>Why?</a:t>
            </a:r>
          </a:p>
          <a:p>
            <a:r>
              <a:rPr lang="en-US" sz="1800" dirty="0"/>
              <a:t>Uber must keep the app working for riders and drivers.</a:t>
            </a:r>
          </a:p>
          <a:p>
            <a:r>
              <a:rPr lang="en-US" sz="1800" dirty="0"/>
              <a:t>Even if data is slightly delayed or inconsistent, users can still request rides.</a:t>
            </a:r>
          </a:p>
          <a:p>
            <a:r>
              <a:rPr lang="en-US" sz="1800" dirty="0"/>
              <a:t>If they stop the system to ensure full correctness, no rides could happen, which is worse.</a:t>
            </a:r>
          </a:p>
          <a:p>
            <a:pPr marL="0" indent="0">
              <a:buNone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461342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87E3E-8A2C-06A8-937B-B4EC070D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" y="167149"/>
            <a:ext cx="11196484" cy="639096"/>
          </a:xfrm>
        </p:spPr>
        <p:txBody>
          <a:bodyPr>
            <a:normAutofit fontScale="90000"/>
          </a:bodyPr>
          <a:lstStyle/>
          <a:p>
            <a:r>
              <a:rPr lang="en-IN" dirty="0"/>
              <a:t>SECTION 3: ACID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0C105-D368-8AF4-9E80-3A6641E7F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310" y="806245"/>
            <a:ext cx="5803490" cy="576170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sz="3300" b="1" dirty="0"/>
              <a:t>Atomicity (All or nothing)</a:t>
            </a:r>
          </a:p>
          <a:p>
            <a:r>
              <a:rPr lang="en-US" sz="2900" b="1" dirty="0"/>
              <a:t>Definition:</a:t>
            </a:r>
            <a:r>
              <a:rPr lang="en-US" sz="2900" dirty="0"/>
              <a:t> A transaction happens completely or not at all.</a:t>
            </a:r>
          </a:p>
          <a:p>
            <a:r>
              <a:rPr lang="en-US" sz="2900" b="1" dirty="0"/>
              <a:t>Bank example:</a:t>
            </a:r>
            <a:r>
              <a:rPr lang="en-US" sz="2900" dirty="0"/>
              <a:t> Sending $100 from Alice to Bob – both deduct and add must happen together.</a:t>
            </a:r>
          </a:p>
          <a:p>
            <a:r>
              <a:rPr lang="en-US" sz="2900" b="1" dirty="0"/>
              <a:t>If fails:</a:t>
            </a:r>
            <a:r>
              <a:rPr lang="en-US" sz="2900" dirty="0"/>
              <a:t> Money could leave Alice but not reach Bob.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sz="3300" b="1" dirty="0"/>
              <a:t>Consistency (Data stays correct)</a:t>
            </a:r>
          </a:p>
          <a:p>
            <a:r>
              <a:rPr lang="en-US" sz="2900" b="1" dirty="0"/>
              <a:t>Definition:</a:t>
            </a:r>
            <a:r>
              <a:rPr lang="en-US" sz="2900" dirty="0"/>
              <a:t> Database rules are always followed.</a:t>
            </a:r>
          </a:p>
          <a:p>
            <a:r>
              <a:rPr lang="en-US" sz="2900" b="1" dirty="0"/>
              <a:t>Bank example:</a:t>
            </a:r>
            <a:r>
              <a:rPr lang="en-US" sz="2900" dirty="0"/>
              <a:t> Account balance cannot go negative. Total money stays the same.</a:t>
            </a:r>
          </a:p>
          <a:p>
            <a:r>
              <a:rPr lang="en-US" sz="2900" b="1" dirty="0"/>
              <a:t>If fails:</a:t>
            </a:r>
            <a:r>
              <a:rPr lang="en-US" sz="2900" dirty="0"/>
              <a:t> Account shows wrong balance or negative money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sz="3300" b="1" dirty="0"/>
              <a:t>Isolation (Transactions don’t mix)</a:t>
            </a:r>
          </a:p>
          <a:p>
            <a:r>
              <a:rPr lang="en-US" sz="2900" b="1" dirty="0"/>
              <a:t>Definition:</a:t>
            </a:r>
            <a:r>
              <a:rPr lang="en-US" sz="2900" dirty="0"/>
              <a:t> Multiple transactions don’t affect each other.</a:t>
            </a:r>
          </a:p>
          <a:p>
            <a:r>
              <a:rPr lang="en-US" sz="2900" b="1" dirty="0"/>
              <a:t>Bank example:</a:t>
            </a:r>
            <a:r>
              <a:rPr lang="en-US" sz="2900" dirty="0"/>
              <a:t> Two people transfer money at the same time – amounts don’t get mixed.</a:t>
            </a:r>
          </a:p>
          <a:p>
            <a:r>
              <a:rPr lang="en-US" sz="2900" b="1" dirty="0"/>
              <a:t>If fails:</a:t>
            </a:r>
            <a:r>
              <a:rPr lang="en-US" sz="2900" dirty="0"/>
              <a:t> Money could be lost, added twice, or miscalculated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3300" b="1" dirty="0"/>
              <a:t>Durability (Changes are permanent)</a:t>
            </a:r>
          </a:p>
          <a:p>
            <a:r>
              <a:rPr lang="en-US" sz="2900" b="1" dirty="0"/>
              <a:t>Definition:</a:t>
            </a:r>
            <a:r>
              <a:rPr lang="en-US" sz="2900" dirty="0"/>
              <a:t> Completed transactions are saved forever, even if system crashes.</a:t>
            </a:r>
          </a:p>
          <a:p>
            <a:r>
              <a:rPr lang="en-US" sz="2900" b="1" dirty="0"/>
              <a:t>Bank example:</a:t>
            </a:r>
            <a:r>
              <a:rPr lang="en-US" sz="2900" dirty="0"/>
              <a:t> After Alice sends $100 to Bob, the record stays safe.</a:t>
            </a:r>
          </a:p>
          <a:p>
            <a:r>
              <a:rPr lang="en-US" sz="2900" b="1" dirty="0"/>
              <a:t>If fails:</a:t>
            </a:r>
            <a:r>
              <a:rPr lang="en-US" sz="2900" dirty="0"/>
              <a:t> Transaction disappears, Bob doesn’t get money.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F347C-2CD5-ED05-BBE9-72D66D92F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06245"/>
            <a:ext cx="5882148" cy="576170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b="1" dirty="0"/>
              <a:t>Scenario</a:t>
            </a:r>
          </a:p>
          <a:p>
            <a:r>
              <a:rPr lang="en-US" sz="2900" dirty="0"/>
              <a:t>User transfers ₹5000 from Account A to Account B.</a:t>
            </a:r>
          </a:p>
          <a:p>
            <a:r>
              <a:rPr lang="en-US" sz="2900" dirty="0"/>
              <a:t>₹5000 is debited from A.</a:t>
            </a:r>
          </a:p>
          <a:p>
            <a:r>
              <a:rPr lang="en-US" sz="2900" dirty="0"/>
              <a:t>System crashes before adding to B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3300" b="1" dirty="0"/>
              <a:t> Which ACID property failed?</a:t>
            </a:r>
          </a:p>
          <a:p>
            <a:r>
              <a:rPr lang="en-US" sz="3300" dirty="0"/>
              <a:t>Atomicity </a:t>
            </a:r>
          </a:p>
          <a:p>
            <a:pPr lvl="1"/>
            <a:r>
              <a:rPr lang="en-US" sz="2900" dirty="0"/>
              <a:t>Because the transaction didn’t happen completely (“all or nothing”).</a:t>
            </a:r>
          </a:p>
          <a:p>
            <a:pPr lvl="1"/>
            <a:r>
              <a:rPr lang="en-US" sz="2900" dirty="0"/>
              <a:t>Money left A but didn’t reach B.</a:t>
            </a:r>
            <a:endParaRPr lang="en-US" dirty="0"/>
          </a:p>
          <a:p>
            <a:pPr marL="0" indent="0">
              <a:buNone/>
            </a:pPr>
            <a:r>
              <a:rPr lang="en-US" sz="3300" b="1" dirty="0"/>
              <a:t>What should DBMS do?</a:t>
            </a:r>
          </a:p>
          <a:p>
            <a:r>
              <a:rPr lang="en-US" sz="3300" dirty="0"/>
              <a:t>Rollback the transaction.</a:t>
            </a:r>
          </a:p>
          <a:p>
            <a:pPr lvl="1"/>
            <a:r>
              <a:rPr lang="en-US" sz="2900" dirty="0"/>
              <a:t>₹5000 should be added back to Account A.</a:t>
            </a:r>
          </a:p>
          <a:p>
            <a:pPr lvl="1"/>
            <a:r>
              <a:rPr lang="en-US" sz="2900" dirty="0"/>
              <a:t>Account B stays unchanged.</a:t>
            </a:r>
          </a:p>
          <a:p>
            <a:r>
              <a:rPr lang="en-US" sz="3300" dirty="0"/>
              <a:t>This ensures the transaction happens fully or not at all.</a:t>
            </a:r>
          </a:p>
          <a:p>
            <a:pPr marL="0" indent="0">
              <a:buNone/>
            </a:pPr>
            <a:r>
              <a:rPr lang="en-US" sz="3300" b="1" dirty="0"/>
              <a:t>Business impact if not fixed?</a:t>
            </a:r>
          </a:p>
          <a:p>
            <a:r>
              <a:rPr lang="en-US" sz="2900" dirty="0"/>
              <a:t>Customer money lost or missing.</a:t>
            </a:r>
          </a:p>
          <a:p>
            <a:r>
              <a:rPr lang="en-US" sz="2900" dirty="0"/>
              <a:t>Bank loses trust.</a:t>
            </a:r>
          </a:p>
          <a:p>
            <a:r>
              <a:rPr lang="en-US" sz="2900" dirty="0"/>
              <a:t>Accounting records become wrong.</a:t>
            </a:r>
          </a:p>
          <a:p>
            <a:r>
              <a:rPr lang="en-US" sz="2900" dirty="0"/>
              <a:t>Can cause financial loss or legal problems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539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57D3-21F5-7381-6C9A-8B50BA2E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06" y="43272"/>
            <a:ext cx="10515600" cy="637765"/>
          </a:xfrm>
        </p:spPr>
        <p:txBody>
          <a:bodyPr>
            <a:normAutofit fontScale="90000"/>
          </a:bodyPr>
          <a:lstStyle/>
          <a:p>
            <a:r>
              <a:rPr lang="en-IN" dirty="0"/>
              <a:t>SECTION 4: Transactions &amp;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49114-8AC5-FBCE-7B65-91A15CF72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311" y="757083"/>
            <a:ext cx="5427406" cy="605764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5100" b="1" dirty="0"/>
              <a:t>Online Shopping Steps</a:t>
            </a:r>
            <a:endParaRPr lang="en-US" sz="3800" b="1" dirty="0"/>
          </a:p>
          <a:p>
            <a:r>
              <a:rPr lang="en-US" sz="3400" dirty="0"/>
              <a:t>Add to cart</a:t>
            </a:r>
          </a:p>
          <a:p>
            <a:r>
              <a:rPr lang="en-US" sz="3400" dirty="0"/>
              <a:t>Make payment</a:t>
            </a:r>
          </a:p>
          <a:p>
            <a:r>
              <a:rPr lang="en-US" sz="3400" dirty="0"/>
              <a:t>Update inventory</a:t>
            </a:r>
          </a:p>
          <a:p>
            <a:r>
              <a:rPr lang="en-US" sz="3400" dirty="0"/>
              <a:t>Generate invoice</a:t>
            </a:r>
          </a:p>
          <a:p>
            <a:pPr marL="0" indent="0">
              <a:buNone/>
            </a:pPr>
            <a:r>
              <a:rPr lang="en-US" sz="3800" b="1" dirty="0"/>
              <a:t>Question: </a:t>
            </a:r>
          </a:p>
          <a:p>
            <a:pPr marL="0" indent="0">
              <a:buNone/>
            </a:pPr>
            <a:r>
              <a:rPr lang="en-US" sz="3800" b="1" dirty="0"/>
              <a:t>Which steps must be one transaction?</a:t>
            </a:r>
          </a:p>
          <a:p>
            <a:pPr marL="0" indent="0">
              <a:buNone/>
            </a:pPr>
            <a:r>
              <a:rPr lang="en-US" sz="3800" b="1" dirty="0"/>
              <a:t>Steps:</a:t>
            </a:r>
          </a:p>
          <a:p>
            <a:r>
              <a:rPr lang="en-US" sz="3400" dirty="0"/>
              <a:t>Make payment </a:t>
            </a:r>
          </a:p>
          <a:p>
            <a:r>
              <a:rPr lang="en-US" sz="3400" dirty="0"/>
              <a:t>Update inventory </a:t>
            </a:r>
          </a:p>
          <a:p>
            <a:r>
              <a:rPr lang="en-US" sz="3400" dirty="0"/>
              <a:t>Generate invoice</a:t>
            </a:r>
            <a:endParaRPr lang="en-US" sz="5900" dirty="0"/>
          </a:p>
          <a:p>
            <a:pPr marL="0" indent="0">
              <a:buNone/>
            </a:pPr>
            <a:r>
              <a:rPr lang="en-US" sz="3800" b="1" dirty="0"/>
              <a:t>Why?</a:t>
            </a:r>
            <a:endParaRPr lang="en-US" sz="4200" b="1" dirty="0"/>
          </a:p>
          <a:p>
            <a:r>
              <a:rPr lang="en-US" sz="3400" dirty="0"/>
              <a:t>These steps must happen all together or not at all.</a:t>
            </a:r>
          </a:p>
          <a:p>
            <a:r>
              <a:rPr lang="en-US" sz="3400" dirty="0"/>
              <a:t>If payment is done but inventory is not updated → stock shows wrong info.</a:t>
            </a:r>
          </a:p>
          <a:p>
            <a:r>
              <a:rPr lang="en-US" sz="3400" dirty="0"/>
              <a:t>If inventory is updated but payment fails → store loses money.</a:t>
            </a:r>
          </a:p>
          <a:p>
            <a:r>
              <a:rPr lang="en-US" sz="3400" dirty="0"/>
              <a:t>If invoice is not generated → customer doesn’t get proof of purchase</a:t>
            </a:r>
            <a:r>
              <a:rPr lang="en-US" sz="2900" dirty="0"/>
              <a:t>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F7B7E-067F-4D6C-DF7F-A0ED66A9F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45394" y="757084"/>
            <a:ext cx="6567948" cy="605764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300" b="1" dirty="0"/>
              <a:t>Scenario:</a:t>
            </a:r>
          </a:p>
          <a:p>
            <a:r>
              <a:rPr lang="en-US" sz="3400" dirty="0"/>
              <a:t>Two users try to book the last movie ticket at the same time.</a:t>
            </a:r>
          </a:p>
          <a:p>
            <a:pPr marL="0" indent="0">
              <a:buNone/>
            </a:pPr>
            <a:r>
              <a:rPr lang="en-US" sz="3300" b="1" dirty="0"/>
              <a:t>Problem Identification</a:t>
            </a:r>
          </a:p>
          <a:p>
            <a:r>
              <a:rPr lang="en-US" sz="3400" dirty="0"/>
              <a:t>Both users see the ticket as available.</a:t>
            </a:r>
          </a:p>
          <a:p>
            <a:r>
              <a:rPr lang="en-US" sz="3400" dirty="0"/>
              <a:t>Both try to book it simultaneously.</a:t>
            </a:r>
          </a:p>
          <a:p>
            <a:pPr marL="0" indent="0">
              <a:buNone/>
            </a:pPr>
            <a:r>
              <a:rPr lang="en-US" sz="3300" b="1" dirty="0"/>
              <a:t>Possible Data Problems</a:t>
            </a:r>
          </a:p>
          <a:p>
            <a:r>
              <a:rPr lang="en-US" sz="3400" b="1" dirty="0"/>
              <a:t>Lost update:</a:t>
            </a:r>
            <a:r>
              <a:rPr lang="en-US" sz="3400" dirty="0"/>
              <a:t> Only one booking should succeed, but both could be recorded.</a:t>
            </a:r>
          </a:p>
          <a:p>
            <a:r>
              <a:rPr lang="en-US" sz="3400" b="1" dirty="0"/>
              <a:t>Inconsistent data:</a:t>
            </a:r>
            <a:r>
              <a:rPr lang="en-US" sz="3400" dirty="0"/>
              <a:t> Ticket appears sold twice.</a:t>
            </a:r>
          </a:p>
          <a:p>
            <a:r>
              <a:rPr lang="en-US" sz="3400" b="1" dirty="0"/>
              <a:t>Overbooking:</a:t>
            </a:r>
            <a:r>
              <a:rPr lang="en-US" sz="3400" dirty="0"/>
              <a:t> System thinks ticket is available when it’s already booked</a:t>
            </a:r>
            <a:r>
              <a:rPr lang="en-US" sz="2900" dirty="0"/>
              <a:t>.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sz="3300" b="1" dirty="0"/>
              <a:t>Business Impact</a:t>
            </a:r>
          </a:p>
          <a:p>
            <a:r>
              <a:rPr lang="en-US" sz="3400" dirty="0"/>
              <a:t>Customer frustration → users may lose trust.</a:t>
            </a:r>
          </a:p>
          <a:p>
            <a:r>
              <a:rPr lang="en-US" sz="3400" dirty="0"/>
              <a:t>Revenue loss → refund or complaints.</a:t>
            </a:r>
          </a:p>
          <a:p>
            <a:r>
              <a:rPr lang="en-US" sz="3400" dirty="0"/>
              <a:t>System reputation damage → errors in ticketing.</a:t>
            </a:r>
            <a:endParaRPr lang="en-US" dirty="0"/>
          </a:p>
          <a:p>
            <a:pPr marL="0" indent="0">
              <a:buNone/>
            </a:pPr>
            <a:r>
              <a:rPr lang="en-US" sz="3800" b="1" dirty="0"/>
              <a:t>How Concurrency Control Prevents It</a:t>
            </a:r>
          </a:p>
          <a:p>
            <a:r>
              <a:rPr lang="en-US" sz="3400" b="1" dirty="0"/>
              <a:t>Locking:</a:t>
            </a:r>
            <a:r>
              <a:rPr lang="en-US" sz="3400" dirty="0"/>
              <a:t> When User 1 starts booking, the ticket is locked. User 2 must wait.</a:t>
            </a:r>
          </a:p>
          <a:p>
            <a:r>
              <a:rPr lang="en-US" sz="3400" b="1" dirty="0"/>
              <a:t>Transaction management:</a:t>
            </a:r>
            <a:r>
              <a:rPr lang="en-US" sz="3400" dirty="0"/>
              <a:t> Ensures one booking completes fully before the next starts.</a:t>
            </a:r>
          </a:p>
          <a:p>
            <a:r>
              <a:rPr lang="en-US" sz="3400" b="1" dirty="0"/>
              <a:t>Atomic operations:</a:t>
            </a:r>
            <a:r>
              <a:rPr lang="en-US" sz="3400" dirty="0"/>
              <a:t> Only one user’s transaction succeeds; the other gets an error or updated info.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937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ED69F-25AB-15BC-C6C7-D532CFAC8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9280"/>
          </a:xfrm>
        </p:spPr>
        <p:txBody>
          <a:bodyPr>
            <a:normAutofit fontScale="90000"/>
          </a:bodyPr>
          <a:lstStyle/>
          <a:p>
            <a:r>
              <a:rPr lang="en-IN" dirty="0"/>
              <a:t>SECTION 5: Locking Mechanism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2D78C1A-1D0D-1F7A-01ED-07EF6A7C34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99500456"/>
              </p:ext>
            </p:extLst>
          </p:nvPr>
        </p:nvGraphicFramePr>
        <p:xfrm>
          <a:off x="213360" y="1666240"/>
          <a:ext cx="5750559" cy="3139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89971">
                  <a:extLst>
                    <a:ext uri="{9D8B030D-6E8A-4147-A177-3AD203B41FA5}">
                      <a16:colId xmlns:a16="http://schemas.microsoft.com/office/drawing/2014/main" val="3336065929"/>
                    </a:ext>
                  </a:extLst>
                </a:gridCol>
                <a:gridCol w="1930294">
                  <a:extLst>
                    <a:ext uri="{9D8B030D-6E8A-4147-A177-3AD203B41FA5}">
                      <a16:colId xmlns:a16="http://schemas.microsoft.com/office/drawing/2014/main" val="4192319324"/>
                    </a:ext>
                  </a:extLst>
                </a:gridCol>
                <a:gridCol w="1930294">
                  <a:extLst>
                    <a:ext uri="{9D8B030D-6E8A-4147-A177-3AD203B41FA5}">
                      <a16:colId xmlns:a16="http://schemas.microsoft.com/office/drawing/2014/main" val="201638659"/>
                    </a:ext>
                  </a:extLst>
                </a:gridCol>
              </a:tblGrid>
              <a:tr h="400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Lock Type</a:t>
                      </a:r>
                    </a:p>
                  </a:txBody>
                  <a:tcPr marL="34456" marR="34456" marT="17228" marB="1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Purpose</a:t>
                      </a:r>
                    </a:p>
                  </a:txBody>
                  <a:tcPr marL="34456" marR="34456" marT="17228" marB="1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Real-World Example</a:t>
                      </a:r>
                    </a:p>
                  </a:txBody>
                  <a:tcPr marL="34456" marR="34456" marT="17228" marB="17228" anchor="ctr"/>
                </a:tc>
                <a:extLst>
                  <a:ext uri="{0D108BD9-81ED-4DB2-BD59-A6C34878D82A}">
                    <a16:rowId xmlns:a16="http://schemas.microsoft.com/office/drawing/2014/main" val="623219998"/>
                  </a:ext>
                </a:extLst>
              </a:tr>
              <a:tr h="130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Shared Lock (S)</a:t>
                      </a:r>
                    </a:p>
                  </a:txBody>
                  <a:tcPr marL="34456" marR="34456" marT="17228" marB="1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Read only (others can also read)</a:t>
                      </a:r>
                    </a:p>
                  </a:txBody>
                  <a:tcPr marL="34456" marR="34456" marT="17228" marB="1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Multiple people reading the news on a website at the same time. Everyone can see it, but no one is changing it.</a:t>
                      </a:r>
                    </a:p>
                  </a:txBody>
                  <a:tcPr marL="34456" marR="34456" marT="17228" marB="17228" anchor="ctr"/>
                </a:tc>
                <a:extLst>
                  <a:ext uri="{0D108BD9-81ED-4DB2-BD59-A6C34878D82A}">
                    <a16:rowId xmlns:a16="http://schemas.microsoft.com/office/drawing/2014/main" val="2614532063"/>
                  </a:ext>
                </a:extLst>
              </a:tr>
              <a:tr h="130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Exclusive Lock (X)</a:t>
                      </a:r>
                    </a:p>
                  </a:txBody>
                  <a:tcPr marL="34456" marR="34456" marT="17228" marB="1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Write only (no one else can read or write)</a:t>
                      </a:r>
                    </a:p>
                  </a:txBody>
                  <a:tcPr marL="34456" marR="34456" marT="17228" marB="1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One person editing a Google Doc or updating a bank account balance. Others cannot read/write until done.</a:t>
                      </a:r>
                    </a:p>
                  </a:txBody>
                  <a:tcPr marL="34456" marR="34456" marT="17228" marB="17228" anchor="ctr"/>
                </a:tc>
                <a:extLst>
                  <a:ext uri="{0D108BD9-81ED-4DB2-BD59-A6C34878D82A}">
                    <a16:rowId xmlns:a16="http://schemas.microsoft.com/office/drawing/2014/main" val="1062719564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99BF5-17DE-EAD1-C74D-7D1290C9A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080" y="589281"/>
            <a:ext cx="6705600" cy="617696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000" b="1" dirty="0"/>
              <a:t>Deadlock Scenario</a:t>
            </a:r>
          </a:p>
          <a:p>
            <a:pPr marL="0" indent="0">
              <a:buNone/>
            </a:pPr>
            <a:r>
              <a:rPr lang="en-US" sz="4000" b="1" dirty="0"/>
              <a:t>Resources:</a:t>
            </a:r>
            <a:endParaRPr lang="en-US" sz="4000" dirty="0"/>
          </a:p>
          <a:p>
            <a:r>
              <a:rPr lang="en-US" sz="4000" dirty="0"/>
              <a:t>Resource 1 = Accounts</a:t>
            </a:r>
          </a:p>
          <a:p>
            <a:r>
              <a:rPr lang="en-US" sz="4000" dirty="0"/>
              <a:t>Resource 2 = Orders</a:t>
            </a:r>
          </a:p>
          <a:p>
            <a:pPr marL="0" indent="0">
              <a:buNone/>
            </a:pPr>
            <a:r>
              <a:rPr lang="en-US" sz="4000" b="1" dirty="0"/>
              <a:t>Transactions:</a:t>
            </a:r>
            <a:endParaRPr lang="en-US" sz="4000" dirty="0"/>
          </a:p>
          <a:p>
            <a:r>
              <a:rPr lang="en-US" sz="4000" b="1" dirty="0"/>
              <a:t>A</a:t>
            </a:r>
            <a:r>
              <a:rPr lang="en-US" sz="4000" dirty="0"/>
              <a:t> locks Accounts → wants Orders</a:t>
            </a:r>
          </a:p>
          <a:p>
            <a:r>
              <a:rPr lang="en-US" sz="4000" b="1" dirty="0"/>
              <a:t>B</a:t>
            </a:r>
            <a:r>
              <a:rPr lang="en-US" sz="4000" dirty="0"/>
              <a:t> locks Orders → wants Accounts</a:t>
            </a:r>
          </a:p>
          <a:p>
            <a:pPr marL="0" indent="0">
              <a:buNone/>
            </a:pPr>
            <a:r>
              <a:rPr lang="en-US" sz="4000" b="1" dirty="0"/>
              <a:t>Step-by-step:</a:t>
            </a:r>
            <a:endParaRPr lang="en-US" sz="4000" dirty="0"/>
          </a:p>
          <a:p>
            <a:r>
              <a:rPr lang="en-US" sz="4000" dirty="0"/>
              <a:t>A locks Accounts.</a:t>
            </a:r>
          </a:p>
          <a:p>
            <a:r>
              <a:rPr lang="en-US" sz="4000" dirty="0"/>
              <a:t>B locks Orders.</a:t>
            </a:r>
          </a:p>
          <a:p>
            <a:r>
              <a:rPr lang="en-US" sz="4000" dirty="0"/>
              <a:t>A waits for Orders.</a:t>
            </a:r>
          </a:p>
          <a:p>
            <a:r>
              <a:rPr lang="en-US" sz="4000" dirty="0"/>
              <a:t>B waits for Accounts.</a:t>
            </a:r>
          </a:p>
          <a:p>
            <a:r>
              <a:rPr lang="en-US" sz="4000" dirty="0"/>
              <a:t> Both wait forever → </a:t>
            </a:r>
            <a:r>
              <a:rPr lang="en-US" sz="4000" b="1" dirty="0"/>
              <a:t>deadlock</a:t>
            </a:r>
            <a:r>
              <a:rPr lang="en-US" sz="4000" dirty="0"/>
              <a:t>.</a:t>
            </a:r>
          </a:p>
          <a:p>
            <a:pPr marL="0" indent="0">
              <a:buNone/>
            </a:pPr>
            <a:r>
              <a:rPr lang="en-US" sz="4500" b="1" dirty="0"/>
              <a:t>Why Deadlock Happens</a:t>
            </a:r>
          </a:p>
          <a:p>
            <a:r>
              <a:rPr lang="en-US" sz="3700" dirty="0"/>
              <a:t>Each is </a:t>
            </a:r>
            <a:r>
              <a:rPr lang="en-US" sz="3700" b="1" dirty="0"/>
              <a:t>holding one resource</a:t>
            </a:r>
            <a:r>
              <a:rPr lang="en-US" sz="3700" dirty="0"/>
              <a:t> and </a:t>
            </a:r>
            <a:r>
              <a:rPr lang="en-US" sz="3700" b="1" dirty="0"/>
              <a:t>waiting for the other</a:t>
            </a:r>
            <a:r>
              <a:rPr lang="en-US" sz="3700" dirty="0"/>
              <a:t>.</a:t>
            </a:r>
          </a:p>
          <a:p>
            <a:r>
              <a:rPr lang="en-US" sz="3700" dirty="0"/>
              <a:t>No one can take the resource from the other.</a:t>
            </a:r>
          </a:p>
          <a:p>
            <a:r>
              <a:rPr lang="en-US" sz="3700" dirty="0"/>
              <a:t>They are in a </a:t>
            </a:r>
            <a:r>
              <a:rPr lang="en-US" sz="3700" b="1" dirty="0"/>
              <a:t>circle of waiting</a:t>
            </a:r>
            <a:r>
              <a:rPr lang="en-US" sz="3700" dirty="0"/>
              <a:t>.</a:t>
            </a:r>
          </a:p>
          <a:p>
            <a:pPr marL="0" indent="0">
              <a:buNone/>
            </a:pPr>
            <a:r>
              <a:rPr lang="en-US" sz="4000" b="1" dirty="0"/>
              <a:t>Simple Solution</a:t>
            </a:r>
          </a:p>
          <a:p>
            <a:r>
              <a:rPr lang="en-US" sz="3700" b="1" dirty="0"/>
              <a:t>Always lock in the same order:</a:t>
            </a:r>
            <a:endParaRPr lang="en-US" sz="3700" dirty="0"/>
          </a:p>
          <a:p>
            <a:r>
              <a:rPr lang="en-US" sz="3700" dirty="0"/>
              <a:t>First Accounts, then Orders.</a:t>
            </a:r>
          </a:p>
          <a:p>
            <a:r>
              <a:rPr lang="en-US" sz="3700" dirty="0"/>
              <a:t>Now A or B waits, but they </a:t>
            </a:r>
            <a:r>
              <a:rPr lang="en-US" sz="3700" b="1" dirty="0"/>
              <a:t>cannot get stuck forever</a:t>
            </a:r>
            <a:r>
              <a:rPr lang="en-US" sz="3700" dirty="0"/>
              <a:t> → no deadlock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970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7590-9D49-FC5F-F08E-092D1DAC8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SECTION 6: Indexing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6079E-246F-A1CF-4F75-ECD0B5319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3836" y="985520"/>
            <a:ext cx="5795964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Indexing</a:t>
            </a:r>
          </a:p>
          <a:p>
            <a:r>
              <a:rPr lang="en-US" sz="1600" b="1" dirty="0"/>
              <a:t>Definition:</a:t>
            </a:r>
            <a:r>
              <a:rPr lang="en-US" sz="1600" dirty="0"/>
              <a:t> Indexing is like a shortcut or a map that helps you </a:t>
            </a:r>
            <a:r>
              <a:rPr lang="en-US" sz="1600" b="1" dirty="0"/>
              <a:t>find data quickly</a:t>
            </a:r>
            <a:r>
              <a:rPr lang="en-US" sz="1600" dirty="0"/>
              <a:t> without checking every item.</a:t>
            </a:r>
          </a:p>
          <a:p>
            <a:r>
              <a:rPr lang="en-US" sz="1600" b="1" dirty="0"/>
              <a:t>Analogy:</a:t>
            </a:r>
            <a:r>
              <a:rPr lang="en-US" sz="1600" dirty="0"/>
              <a:t> Think of the index in a book – instead of reading every page, you jump directly to the page you want.</a:t>
            </a:r>
          </a:p>
          <a:p>
            <a:pPr marL="0" indent="0">
              <a:buNone/>
            </a:pPr>
            <a:r>
              <a:rPr lang="en-US" sz="1800" b="1" dirty="0"/>
              <a:t>Library Example</a:t>
            </a:r>
          </a:p>
          <a:p>
            <a:r>
              <a:rPr lang="en-US" sz="1600" dirty="0"/>
              <a:t>Without index: You check every book on the shelf.</a:t>
            </a:r>
          </a:p>
          <a:p>
            <a:r>
              <a:rPr lang="en-US" sz="1600" dirty="0"/>
              <a:t>With index: You check the catalog → it tells you the exact shelf → find book fast.</a:t>
            </a:r>
          </a:p>
          <a:p>
            <a:r>
              <a:rPr lang="en-US" sz="1800" dirty="0"/>
              <a:t>Shortcut = catalog</a:t>
            </a:r>
          </a:p>
          <a:p>
            <a:pPr marL="0" indent="0">
              <a:buNone/>
            </a:pPr>
            <a:r>
              <a:rPr lang="en-US" sz="1800" b="1" dirty="0"/>
              <a:t>Amazon Example</a:t>
            </a:r>
          </a:p>
          <a:p>
            <a:r>
              <a:rPr lang="en-US" sz="1600" dirty="0"/>
              <a:t>Without index: Amazon looks at every product → very slow.</a:t>
            </a:r>
          </a:p>
          <a:p>
            <a:r>
              <a:rPr lang="en-US" sz="1600" dirty="0"/>
              <a:t>With index: Amazon looks at the search index → shows matching products fast.</a:t>
            </a:r>
          </a:p>
          <a:p>
            <a:r>
              <a:rPr lang="en-US" sz="1600" dirty="0"/>
              <a:t>Shortcut = product search index</a:t>
            </a:r>
          </a:p>
          <a:p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A2F38F-CE98-3322-D5C5-799C4690B66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13472859"/>
              </p:ext>
            </p:extLst>
          </p:nvPr>
        </p:nvGraphicFramePr>
        <p:xfrm>
          <a:off x="6167120" y="1706880"/>
          <a:ext cx="5801044" cy="30945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37068">
                  <a:extLst>
                    <a:ext uri="{9D8B030D-6E8A-4147-A177-3AD203B41FA5}">
                      <a16:colId xmlns:a16="http://schemas.microsoft.com/office/drawing/2014/main" val="2352689519"/>
                    </a:ext>
                  </a:extLst>
                </a:gridCol>
                <a:gridCol w="1931988">
                  <a:extLst>
                    <a:ext uri="{9D8B030D-6E8A-4147-A177-3AD203B41FA5}">
                      <a16:colId xmlns:a16="http://schemas.microsoft.com/office/drawing/2014/main" val="1118286980"/>
                    </a:ext>
                  </a:extLst>
                </a:gridCol>
                <a:gridCol w="1931988">
                  <a:extLst>
                    <a:ext uri="{9D8B030D-6E8A-4147-A177-3AD203B41FA5}">
                      <a16:colId xmlns:a16="http://schemas.microsoft.com/office/drawing/2014/main" val="4093360003"/>
                    </a:ext>
                  </a:extLst>
                </a:gridCol>
              </a:tblGrid>
              <a:tr h="412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Scenario</a:t>
                      </a:r>
                    </a:p>
                  </a:txBody>
                  <a:tcPr marL="50400" marR="50400" marT="25200" marB="25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Index Type</a:t>
                      </a:r>
                    </a:p>
                  </a:txBody>
                  <a:tcPr marL="50400" marR="50400" marT="25200" marB="25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Reason </a:t>
                      </a:r>
                    </a:p>
                  </a:txBody>
                  <a:tcPr marL="50400" marR="50400" marT="25200" marB="25200" anchor="ctr"/>
                </a:tc>
                <a:extLst>
                  <a:ext uri="{0D108BD9-81ED-4DB2-BD59-A6C34878D82A}">
                    <a16:rowId xmlns:a16="http://schemas.microsoft.com/office/drawing/2014/main" val="1943418262"/>
                  </a:ext>
                </a:extLst>
              </a:tr>
              <a:tr h="873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Searching customer by Customer_ID</a:t>
                      </a:r>
                    </a:p>
                  </a:txBody>
                  <a:tcPr marL="50400" marR="50400" marT="25200" marB="25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Primary/Unique Index</a:t>
                      </a:r>
                      <a:endParaRPr lang="en-IN" sz="1600"/>
                    </a:p>
                  </a:txBody>
                  <a:tcPr marL="50400" marR="50400" marT="25200" marB="25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Unique ID → fast lookup of a single customer.</a:t>
                      </a:r>
                    </a:p>
                  </a:txBody>
                  <a:tcPr marL="50400" marR="50400" marT="25200" marB="25200" anchor="ctr"/>
                </a:tc>
                <a:extLst>
                  <a:ext uri="{0D108BD9-81ED-4DB2-BD59-A6C34878D82A}">
                    <a16:rowId xmlns:a16="http://schemas.microsoft.com/office/drawing/2014/main" val="2839206101"/>
                  </a:ext>
                </a:extLst>
              </a:tr>
              <a:tr h="723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Sorting orders by Order_Date</a:t>
                      </a:r>
                    </a:p>
                  </a:txBody>
                  <a:tcPr marL="50400" marR="50400" marT="25200" marB="25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Clustered Index</a:t>
                      </a:r>
                      <a:endParaRPr lang="en-IN" sz="1600"/>
                    </a:p>
                  </a:txBody>
                  <a:tcPr marL="50400" marR="50400" marT="25200" marB="25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Data stored in order → sorting and range queries are fast.</a:t>
                      </a:r>
                    </a:p>
                  </a:txBody>
                  <a:tcPr marL="50400" marR="50400" marT="25200" marB="25200" anchor="ctr"/>
                </a:tc>
                <a:extLst>
                  <a:ext uri="{0D108BD9-81ED-4DB2-BD59-A6C34878D82A}">
                    <a16:rowId xmlns:a16="http://schemas.microsoft.com/office/drawing/2014/main" val="423878696"/>
                  </a:ext>
                </a:extLst>
              </a:tr>
              <a:tr h="723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Searching products by Product_Name</a:t>
                      </a:r>
                    </a:p>
                  </a:txBody>
                  <a:tcPr marL="50400" marR="50400" marT="25200" marB="25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Non-Clustered Index</a:t>
                      </a:r>
                      <a:endParaRPr lang="en-IN" sz="1600"/>
                    </a:p>
                  </a:txBody>
                  <a:tcPr marL="50400" marR="50400" marT="25200" marB="25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Allows fast search on a text field without changing data.</a:t>
                      </a:r>
                    </a:p>
                  </a:txBody>
                  <a:tcPr marL="50400" marR="50400" marT="25200" marB="25200" anchor="ctr"/>
                </a:tc>
                <a:extLst>
                  <a:ext uri="{0D108BD9-81ED-4DB2-BD59-A6C34878D82A}">
                    <a16:rowId xmlns:a16="http://schemas.microsoft.com/office/drawing/2014/main" val="2179193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783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C9C5-C2F5-8204-CAF0-568863562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131445"/>
            <a:ext cx="11353800" cy="813435"/>
          </a:xfrm>
        </p:spPr>
        <p:txBody>
          <a:bodyPr/>
          <a:lstStyle/>
          <a:p>
            <a:r>
              <a:rPr lang="en-US" dirty="0"/>
              <a:t>SECTION 7: Analyst Thinking Challenge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AE136-027D-E902-B83C-89083E633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3360" y="1087120"/>
            <a:ext cx="5806440" cy="5639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Problem:</a:t>
            </a:r>
          </a:p>
          <a:p>
            <a:r>
              <a:rPr lang="en-US" sz="1600" dirty="0"/>
              <a:t>Sales dashboard is slow.</a:t>
            </a:r>
          </a:p>
          <a:p>
            <a:pPr marL="0" indent="0">
              <a:buNone/>
            </a:pPr>
            <a:r>
              <a:rPr lang="en-US" sz="2000" b="1" dirty="0"/>
              <a:t>What you can do as a Data Analyst</a:t>
            </a:r>
          </a:p>
          <a:p>
            <a:r>
              <a:rPr lang="en-US" sz="1600" b="1" dirty="0"/>
              <a:t>Check the queries</a:t>
            </a:r>
            <a:r>
              <a:rPr lang="en-US" sz="1600" dirty="0"/>
              <a:t> → Which ones are slow?</a:t>
            </a:r>
          </a:p>
          <a:p>
            <a:r>
              <a:rPr lang="en-US" sz="1600" b="1" dirty="0"/>
              <a:t>Check the data size</a:t>
            </a:r>
            <a:r>
              <a:rPr lang="en-US" sz="1600" dirty="0"/>
              <a:t> → Are tables very big?</a:t>
            </a:r>
          </a:p>
          <a:p>
            <a:r>
              <a:rPr lang="en-US" sz="1600" b="1" dirty="0"/>
              <a:t>Check indexes</a:t>
            </a:r>
            <a:r>
              <a:rPr lang="en-US" sz="1600" dirty="0"/>
              <a:t> → Are there shortcuts to find data fast?</a:t>
            </a:r>
          </a:p>
          <a:p>
            <a:pPr marL="0" indent="0">
              <a:buNone/>
            </a:pPr>
            <a:r>
              <a:rPr lang="en-US" sz="2000" b="1" dirty="0"/>
              <a:t>Questions to ask the DBA</a:t>
            </a:r>
          </a:p>
          <a:p>
            <a:r>
              <a:rPr lang="en-US" sz="1600" dirty="0"/>
              <a:t>Which columns have indexes?</a:t>
            </a:r>
          </a:p>
          <a:p>
            <a:r>
              <a:rPr lang="en-US" sz="1600" dirty="0"/>
              <a:t>Which queries are slow?</a:t>
            </a:r>
          </a:p>
          <a:p>
            <a:r>
              <a:rPr lang="en-US" sz="1600" dirty="0"/>
              <a:t>How often is data updated?</a:t>
            </a:r>
          </a:p>
          <a:p>
            <a:r>
              <a:rPr lang="en-US" sz="1600" dirty="0"/>
              <a:t>Any database maintenance done?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0FD3B-2547-F9E1-5A1B-BF7C9B9F7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87120"/>
            <a:ext cx="5806440" cy="5639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Things that can make it slow</a:t>
            </a:r>
          </a:p>
          <a:p>
            <a:r>
              <a:rPr lang="en-US" sz="1800" dirty="0"/>
              <a:t>Missing indexes → database looks at every row</a:t>
            </a:r>
          </a:p>
          <a:p>
            <a:r>
              <a:rPr lang="en-US" sz="1800" dirty="0"/>
              <a:t>Very big tables</a:t>
            </a:r>
          </a:p>
          <a:p>
            <a:r>
              <a:rPr lang="en-US" sz="1800" dirty="0"/>
              <a:t>Complex joins or calculations</a:t>
            </a:r>
          </a:p>
          <a:p>
            <a:r>
              <a:rPr lang="en-US" sz="1800" dirty="0"/>
              <a:t>Fragmented indexes</a:t>
            </a:r>
          </a:p>
          <a:p>
            <a:pPr marL="0" indent="0">
              <a:buNone/>
            </a:pPr>
            <a:r>
              <a:rPr lang="en-US" sz="2000" b="1" dirty="0"/>
              <a:t>How indexing helps</a:t>
            </a:r>
          </a:p>
          <a:p>
            <a:r>
              <a:rPr lang="en-US" sz="2000" dirty="0"/>
              <a:t>Index = shortcut to data</a:t>
            </a:r>
          </a:p>
          <a:p>
            <a:r>
              <a:rPr lang="en-US" sz="2000" dirty="0"/>
              <a:t>Finds rows without scanning whole table</a:t>
            </a:r>
          </a:p>
          <a:p>
            <a:r>
              <a:rPr lang="en-US" sz="2000" dirty="0"/>
              <a:t>Example:</a:t>
            </a:r>
          </a:p>
          <a:p>
            <a:pPr lvl="1"/>
            <a:r>
              <a:rPr lang="en-US" sz="1800" dirty="0"/>
              <a:t>Query: SELECT SUM(amount) FROM Sales WHERE region = 'East'</a:t>
            </a:r>
          </a:p>
          <a:p>
            <a:pPr lvl="1"/>
            <a:r>
              <a:rPr lang="en-US" sz="1800" dirty="0"/>
              <a:t>With index on region → database finds rows quickly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6392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1659</Words>
  <Application>Microsoft Office PowerPoint</Application>
  <PresentationFormat>Widescreen</PresentationFormat>
  <Paragraphs>260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DATA ANALYST Assignment -2</vt:lpstr>
      <vt:lpstr>SECTION 1: DBMS Architecture </vt:lpstr>
      <vt:lpstr>Banking System Views</vt:lpstr>
      <vt:lpstr>SECTION 2: CAP Theorem</vt:lpstr>
      <vt:lpstr>PowerPoint Presentation</vt:lpstr>
      <vt:lpstr>SECTION 3: ACID Properties</vt:lpstr>
      <vt:lpstr>SECTION 4: Transactions &amp; Concurrency</vt:lpstr>
      <vt:lpstr>SECTION 5: Locking Mechanism</vt:lpstr>
      <vt:lpstr>SECTION 6: Indexing </vt:lpstr>
      <vt:lpstr>SECTION 7: Analyst Thinking Challenge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Elakkiya S</dc:creator>
  <cp:lastModifiedBy>Elakkiya S</cp:lastModifiedBy>
  <cp:revision>2</cp:revision>
  <dcterms:created xsi:type="dcterms:W3CDTF">2026-02-06T04:33:55Z</dcterms:created>
  <dcterms:modified xsi:type="dcterms:W3CDTF">2026-02-06T06:25:37Z</dcterms:modified>
</cp:coreProperties>
</file>